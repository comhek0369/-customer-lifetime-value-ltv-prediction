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A134-F1C3-464B-BF47-54DC2DE08F52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A134-F1C3-464B-BF47-54DC2DE08F52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A134-F1C3-464B-BF47-54DC2DE08F52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A134-F1C3-464B-BF47-54DC2DE08F52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A134-F1C3-464B-BF47-54DC2DE08F52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A134-F1C3-464B-BF47-54DC2DE08F52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A134-F1C3-464B-BF47-54DC2DE08F52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A134-F1C3-464B-BF47-54DC2DE08F52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D7C3A134-F1C3-464B-BF47-54DC2DE08F52}" type="datetimeFigureOut">
              <a:rPr lang="en-US" smtClean="0"/>
              <a:pPr/>
              <a:t>4/30/2025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9648F39E-9C37-485F-AC97-16BB4BDF9F49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A134-F1C3-464B-BF47-54DC2DE08F52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A134-F1C3-464B-BF47-54DC2DE08F52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D7C3A134-F1C3-464B-BF47-54DC2DE08F52}" type="datetimeFigureOut">
              <a:rPr lang="en-US" smtClean="0"/>
              <a:pPr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9648F39E-9C37-485F-AC97-16BB4BDF9F49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omhek0369" TargetMode="External"/><Relationship Id="rId2" Type="http://schemas.openxmlformats.org/officeDocument/2006/relationships/hyperlink" Target="mailto:katariya.harsh2468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8077200" cy="6324600"/>
          </a:xfrm>
        </p:spPr>
        <p:txBody>
          <a:bodyPr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dirty="0" smtClean="0"/>
              <a:t>Customer Lifetime Value Prediction Model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2000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By: Harsh </a:t>
            </a:r>
            <a:r>
              <a:rPr lang="en-US" sz="2000" dirty="0" err="1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Katariya</a:t>
            </a: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Objective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None/>
            </a:pPr>
            <a:r>
              <a:rPr lang="en-US" sz="3600" dirty="0" smtClean="0">
                <a:latin typeface="+mj-lt"/>
              </a:rPr>
              <a:t>Predict </a:t>
            </a:r>
            <a:r>
              <a:rPr lang="en-US" sz="3600" dirty="0" smtClean="0">
                <a:latin typeface="+mj-lt"/>
              </a:rPr>
              <a:t>each customer’s future value to</a:t>
            </a:r>
            <a:r>
              <a:rPr lang="en-US" sz="3600" dirty="0" smtClean="0">
                <a:latin typeface="Arial Narrow" pitchFamily="34" charset="0"/>
              </a:rPr>
              <a:t>:</a:t>
            </a:r>
          </a:p>
          <a:p>
            <a:pPr algn="just">
              <a:buNone/>
            </a:pPr>
            <a:endParaRPr lang="en-US" sz="3600" spc="300" dirty="0" smtClean="0">
              <a:latin typeface="Arial Narrow" pitchFamily="34" charset="0"/>
            </a:endParaRPr>
          </a:p>
          <a:p>
            <a:pPr algn="just"/>
            <a:r>
              <a:rPr lang="en-US" sz="2400" dirty="0" smtClean="0"/>
              <a:t>Identify high-value customers</a:t>
            </a:r>
          </a:p>
          <a:p>
            <a:pPr algn="just"/>
            <a:r>
              <a:rPr lang="en-US" sz="2400" dirty="0" smtClean="0"/>
              <a:t>Enable personalized marketing</a:t>
            </a:r>
          </a:p>
          <a:p>
            <a:pPr algn="just"/>
            <a:r>
              <a:rPr lang="en-US" sz="2400" dirty="0" smtClean="0"/>
              <a:t>Optimize customer retention </a:t>
            </a:r>
            <a:r>
              <a:rPr lang="en-US" sz="2400" dirty="0" smtClean="0"/>
              <a:t>efforts</a:t>
            </a:r>
            <a:endParaRPr lang="en-US" sz="2400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1"/>
            <a:ext cx="8839200" cy="5334000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Sources Used:</a:t>
            </a:r>
            <a:endParaRPr lang="en-US" dirty="0" smtClean="0"/>
          </a:p>
          <a:p>
            <a:r>
              <a:rPr lang="en-US" sz="2400" dirty="0" smtClean="0"/>
              <a:t>customers.csv – Customer profiles</a:t>
            </a:r>
          </a:p>
          <a:p>
            <a:r>
              <a:rPr lang="en-US" sz="2400" dirty="0" smtClean="0"/>
              <a:t>transactions.csv – Historical purchases</a:t>
            </a:r>
          </a:p>
          <a:p>
            <a:pPr>
              <a:buNone/>
            </a:pPr>
            <a:r>
              <a:rPr lang="en-US" sz="2400" b="1" dirty="0" smtClean="0"/>
              <a:t>Time Range:</a:t>
            </a:r>
            <a:r>
              <a:rPr lang="en-US" sz="2400" dirty="0" smtClean="0"/>
              <a:t> (e.g., Jan 2022 – Dec 2024)</a:t>
            </a:r>
          </a:p>
          <a:p>
            <a:pPr>
              <a:buNone/>
            </a:pPr>
            <a:r>
              <a:rPr lang="en-US" sz="2400" b="1" dirty="0" smtClean="0"/>
              <a:t>Volume:</a:t>
            </a:r>
            <a:r>
              <a:rPr lang="en-US" sz="2400" dirty="0" smtClean="0"/>
              <a:t> (e.g., 15,000 customers, 120,000 transactions)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6" name="Picture 5" descr="Screenshot (35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733800"/>
            <a:ext cx="3967557" cy="2850218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7" name="Picture 6" descr="Screenshot (358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3657600"/>
            <a:ext cx="4275086" cy="2943519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 Engineering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0" y="1447800"/>
            <a:ext cx="9144000" cy="5410199"/>
          </a:xfrm>
        </p:spPr>
        <p:txBody>
          <a:bodyPr/>
          <a:lstStyle/>
          <a:p>
            <a:r>
              <a:rPr lang="en-US" sz="2000" b="1" dirty="0" err="1" smtClean="0"/>
              <a:t>Recency</a:t>
            </a:r>
            <a:r>
              <a:rPr lang="en-US" sz="2000" dirty="0" smtClean="0"/>
              <a:t> </a:t>
            </a:r>
            <a:r>
              <a:rPr lang="en-US" sz="2000" dirty="0" smtClean="0"/>
              <a:t>– Days since last purchase</a:t>
            </a:r>
          </a:p>
          <a:p>
            <a:r>
              <a:rPr lang="en-US" sz="2000" b="1" dirty="0" smtClean="0"/>
              <a:t>Frequency</a:t>
            </a:r>
            <a:r>
              <a:rPr lang="en-US" sz="2000" dirty="0" smtClean="0"/>
              <a:t> – Total number of orders</a:t>
            </a:r>
          </a:p>
          <a:p>
            <a:r>
              <a:rPr lang="en-US" sz="2000" b="1" dirty="0" smtClean="0"/>
              <a:t>Tenure</a:t>
            </a:r>
            <a:r>
              <a:rPr lang="en-US" sz="2000" dirty="0" smtClean="0"/>
              <a:t> – Days between first and </a:t>
            </a:r>
            <a:r>
              <a:rPr lang="en-US" sz="2000" dirty="0" smtClean="0"/>
              <a:t>last</a:t>
            </a:r>
          </a:p>
          <a:p>
            <a:pPr>
              <a:buNone/>
            </a:pPr>
            <a:r>
              <a:rPr lang="en-US" sz="2000" dirty="0" smtClean="0"/>
              <a:t> </a:t>
            </a:r>
            <a:r>
              <a:rPr lang="en-US" sz="2000" dirty="0" smtClean="0"/>
              <a:t>                        </a:t>
            </a:r>
            <a:r>
              <a:rPr lang="en-US" sz="2000" dirty="0" smtClean="0"/>
              <a:t>purchase</a:t>
            </a:r>
          </a:p>
          <a:p>
            <a:r>
              <a:rPr lang="en-US" sz="2000" b="1" dirty="0" smtClean="0"/>
              <a:t>AOV</a:t>
            </a:r>
            <a:r>
              <a:rPr lang="en-US" sz="2000" dirty="0" smtClean="0"/>
              <a:t> – Average Order Value</a:t>
            </a:r>
          </a:p>
          <a:p>
            <a:pPr>
              <a:buNone/>
            </a:pPr>
            <a:r>
              <a:rPr lang="en-US" sz="2000" dirty="0" smtClean="0"/>
              <a:t>All features derived from transaction 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history</a:t>
            </a:r>
            <a:endParaRPr lang="en-US" sz="2000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10" name="Picture 9" descr="Screenshot (35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2514600"/>
            <a:ext cx="4811263" cy="4191000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Modeling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1"/>
            <a:ext cx="8686800" cy="4876800"/>
          </a:xfrm>
        </p:spPr>
        <p:txBody>
          <a:bodyPr>
            <a:normAutofit/>
          </a:bodyPr>
          <a:lstStyle/>
          <a:p>
            <a:r>
              <a:rPr lang="en-US" sz="2000" b="1" dirty="0" smtClean="0"/>
              <a:t>Model Used:</a:t>
            </a:r>
            <a:r>
              <a:rPr lang="en-US" sz="2000" dirty="0" smtClean="0"/>
              <a:t> </a:t>
            </a:r>
            <a:r>
              <a:rPr lang="en-US" sz="2000" dirty="0" err="1" smtClean="0"/>
              <a:t>XGBoost</a:t>
            </a:r>
            <a:r>
              <a:rPr lang="en-US" sz="2000" dirty="0" smtClean="0"/>
              <a:t> </a:t>
            </a:r>
            <a:r>
              <a:rPr lang="en-US" sz="2000" dirty="0" err="1" smtClean="0"/>
              <a:t>Regressor</a:t>
            </a:r>
            <a:endParaRPr lang="en-US" sz="2000" dirty="0" smtClean="0"/>
          </a:p>
          <a:p>
            <a:r>
              <a:rPr lang="en-US" sz="2000" b="1" dirty="0" smtClean="0"/>
              <a:t>Target Variable:</a:t>
            </a:r>
            <a:r>
              <a:rPr lang="en-US" sz="2000" dirty="0" smtClean="0"/>
              <a:t> Total historical spend (proxy for LTV)</a:t>
            </a:r>
          </a:p>
          <a:p>
            <a:r>
              <a:rPr lang="en-US" sz="2000" b="1" dirty="0" smtClean="0"/>
              <a:t>Training Method:</a:t>
            </a:r>
            <a:r>
              <a:rPr lang="en-US" sz="2000" dirty="0" smtClean="0"/>
              <a:t> 80/20 split, evaluated with MAE &amp; </a:t>
            </a:r>
            <a:r>
              <a:rPr lang="en-US" sz="2000" dirty="0" smtClean="0"/>
              <a:t>RMSE</a:t>
            </a:r>
          </a:p>
          <a:p>
            <a:endParaRPr lang="en-US" sz="2000" dirty="0" smtClean="0"/>
          </a:p>
          <a:p>
            <a:endParaRPr lang="en-US" sz="2000" dirty="0" smtClean="0"/>
          </a:p>
          <a:p>
            <a:r>
              <a:rPr lang="en-US" sz="2000" b="1" dirty="0" smtClean="0"/>
              <a:t>Output:</a:t>
            </a:r>
          </a:p>
          <a:p>
            <a:pPr>
              <a:buNone/>
            </a:pPr>
            <a:r>
              <a:rPr lang="en-US" sz="2000" dirty="0" smtClean="0"/>
              <a:t>       Model </a:t>
            </a:r>
            <a:r>
              <a:rPr lang="en-US" sz="2000" dirty="0" smtClean="0"/>
              <a:t>Performance: MAE: </a:t>
            </a:r>
            <a:r>
              <a:rPr lang="en-US" sz="2000" dirty="0" smtClean="0"/>
              <a:t>28.27 </a:t>
            </a:r>
          </a:p>
          <a:p>
            <a:pPr>
              <a:buNone/>
            </a:pPr>
            <a:r>
              <a:rPr lang="en-US" sz="2000" dirty="0" smtClean="0"/>
              <a:t> </a:t>
            </a:r>
            <a:r>
              <a:rPr lang="en-US" sz="2000" dirty="0" smtClean="0"/>
              <a:t>                                                 RMSE</a:t>
            </a:r>
            <a:r>
              <a:rPr lang="en-US" sz="2000" dirty="0" smtClean="0"/>
              <a:t>: </a:t>
            </a:r>
            <a:r>
              <a:rPr lang="en-US" sz="2000" dirty="0" smtClean="0"/>
              <a:t>39.78</a:t>
            </a:r>
            <a:endParaRPr lang="en-US" sz="2000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Performance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1"/>
            <a:ext cx="8458200" cy="4876800"/>
          </a:xfrm>
        </p:spPr>
        <p:txBody>
          <a:bodyPr/>
          <a:lstStyle/>
          <a:p>
            <a:r>
              <a:rPr lang="en-US" sz="2000" b="1" dirty="0" smtClean="0"/>
              <a:t>MAE:</a:t>
            </a:r>
            <a:r>
              <a:rPr lang="en-US" sz="2000" dirty="0" smtClean="0"/>
              <a:t> $32.49</a:t>
            </a:r>
          </a:p>
          <a:p>
            <a:r>
              <a:rPr lang="en-US" sz="2000" b="1" dirty="0" smtClean="0"/>
              <a:t>RMSE:</a:t>
            </a:r>
            <a:r>
              <a:rPr lang="en-US" sz="2000" dirty="0" smtClean="0"/>
              <a:t> $49.66</a:t>
            </a:r>
          </a:p>
          <a:p>
            <a:pPr>
              <a:buNone/>
            </a:pPr>
            <a:r>
              <a:rPr lang="en-US" sz="2000" dirty="0" smtClean="0"/>
              <a:t>Acceptable </a:t>
            </a:r>
            <a:r>
              <a:rPr lang="en-US" sz="2000" dirty="0" smtClean="0"/>
              <a:t>range, </a:t>
            </a:r>
            <a:r>
              <a:rPr lang="en-US" sz="2000" dirty="0" smtClean="0"/>
              <a:t>some variability due to high-value </a:t>
            </a:r>
            <a:r>
              <a:rPr lang="en-US" sz="2000" dirty="0" smtClean="0"/>
              <a:t>outliers</a:t>
            </a:r>
            <a:endParaRPr lang="en-US" sz="2000" dirty="0" smtClean="0"/>
          </a:p>
          <a:p>
            <a:endParaRPr lang="en-US" dirty="0"/>
          </a:p>
        </p:txBody>
      </p:sp>
      <p:pic>
        <p:nvPicPr>
          <p:cNvPr id="4" name="Picture 3" descr="Screenshot (36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743200"/>
            <a:ext cx="6781800" cy="3962400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LTV Predictions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Predicted LTV for each customer</a:t>
            </a:r>
          </a:p>
          <a:p>
            <a:r>
              <a:rPr lang="en-US" sz="2000" dirty="0" smtClean="0"/>
              <a:t>Exported as</a:t>
            </a:r>
            <a:r>
              <a:rPr lang="en-US" sz="2000" b="1" dirty="0" smtClean="0"/>
              <a:t> customer_LTV_predictions.csv</a:t>
            </a:r>
          </a:p>
          <a:p>
            <a:r>
              <a:rPr lang="en-US" sz="2000" dirty="0" smtClean="0"/>
              <a:t>Visual: Histogram of predicted LTV </a:t>
            </a:r>
            <a:r>
              <a:rPr lang="en-US" sz="2000" dirty="0" smtClean="0"/>
              <a:t>values</a:t>
            </a:r>
            <a:endParaRPr lang="en-US" sz="2000" dirty="0" smtClean="0"/>
          </a:p>
        </p:txBody>
      </p:sp>
      <p:pic>
        <p:nvPicPr>
          <p:cNvPr id="4" name="Picture 3" descr="Screenshot (36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895600"/>
            <a:ext cx="7239000" cy="3810000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Customer Segmentation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1"/>
            <a:ext cx="8458200" cy="4876800"/>
          </a:xfrm>
        </p:spPr>
        <p:txBody>
          <a:bodyPr/>
          <a:lstStyle/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Customers </a:t>
            </a:r>
            <a:r>
              <a:rPr lang="en-US" sz="2000" dirty="0" smtClean="0"/>
              <a:t>segmented into:</a:t>
            </a:r>
          </a:p>
          <a:p>
            <a:r>
              <a:rPr lang="en-US" sz="2000" b="1" dirty="0" smtClean="0"/>
              <a:t>Top (top 10%)</a:t>
            </a:r>
            <a:endParaRPr lang="en-US" sz="2000" dirty="0" smtClean="0"/>
          </a:p>
          <a:p>
            <a:r>
              <a:rPr lang="en-US" sz="2000" b="1" dirty="0" smtClean="0"/>
              <a:t>High (10–30%)</a:t>
            </a:r>
            <a:endParaRPr lang="en-US" sz="2000" dirty="0" smtClean="0"/>
          </a:p>
          <a:p>
            <a:r>
              <a:rPr lang="en-US" sz="2000" b="1" dirty="0" smtClean="0"/>
              <a:t>Mid (30–70%)</a:t>
            </a:r>
            <a:endParaRPr lang="en-US" sz="2000" dirty="0" smtClean="0"/>
          </a:p>
          <a:p>
            <a:r>
              <a:rPr lang="en-US" sz="2000" b="1" dirty="0" smtClean="0"/>
              <a:t>Low (bottom 30%)</a:t>
            </a:r>
            <a:endParaRPr lang="en-US" sz="2000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4" name="Picture 3" descr="Screenshot (36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1828800"/>
            <a:ext cx="4608528" cy="45676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Strategic Recommendations</a:t>
            </a:r>
            <a:endParaRPr lang="en-US" dirty="0"/>
          </a:p>
        </p:txBody>
      </p:sp>
      <p:pic>
        <p:nvPicPr>
          <p:cNvPr id="4" name="Content Placeholder 3" descr="Screenshot (363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7687748" cy="3428999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Enhance features (e.g., time between purchases, last order amount)</a:t>
            </a:r>
          </a:p>
          <a:p>
            <a:r>
              <a:rPr lang="en-US" sz="2000" dirty="0" smtClean="0"/>
              <a:t>Test log-transformed LTV for improved model fit</a:t>
            </a:r>
          </a:p>
          <a:p>
            <a:r>
              <a:rPr lang="en-US" sz="2000" dirty="0" smtClean="0"/>
              <a:t>Build dashboard for real-time LTV scoring</a:t>
            </a:r>
          </a:p>
          <a:p>
            <a:r>
              <a:rPr lang="en-US" sz="2000" dirty="0" smtClean="0"/>
              <a:t>Schedule model retraining quarterly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sz="6600" cap="all" dirty="0" smtClean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Thank You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Contact info :  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hlinkClick r:id="rId2"/>
              </a:rPr>
              <a:t>katariya.harsh2468@gmail.com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/>
            </a:r>
            <a:b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GitHub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info :  </a:t>
            </a:r>
            <a:r>
              <a:rPr lang="en-US" sz="2000" dirty="0" smtClean="0">
                <a:solidFill>
                  <a:srgbClr val="00B0F0"/>
                </a:solidFill>
                <a:hlinkClick r:id="rId3" tooltip="Comhek0369"/>
              </a:rPr>
              <a:t>Comhek0369</a:t>
            </a:r>
            <a:endParaRPr lang="en-US" sz="20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61</TotalTime>
  <Words>232</Words>
  <Application>Microsoft Office PowerPoint</Application>
  <PresentationFormat>On-screen Show (4:3)</PresentationFormat>
  <Paragraphs>52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Module</vt:lpstr>
      <vt:lpstr>Customer Lifetime Value Prediction Model    By: Harsh Katariya</vt:lpstr>
      <vt:lpstr>Business Objective</vt:lpstr>
      <vt:lpstr>Data Overview</vt:lpstr>
      <vt:lpstr>Feature Engineering</vt:lpstr>
      <vt:lpstr>Modeling Approach</vt:lpstr>
      <vt:lpstr>Model Performance</vt:lpstr>
      <vt:lpstr>LTV Predictions</vt:lpstr>
      <vt:lpstr>Customer Segmentation</vt:lpstr>
      <vt:lpstr>Strategic Recommendations</vt:lpstr>
      <vt:lpstr>Next Steps</vt:lpstr>
      <vt:lpstr>Thank You  Contact info :  katariya.harsh2468@gmail.com  GitHub info :  Comhek0369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Lifetime Value Prediction Model</dc:title>
  <dc:creator>Harsh</dc:creator>
  <cp:lastModifiedBy>Harsh</cp:lastModifiedBy>
  <cp:revision>7</cp:revision>
  <dcterms:created xsi:type="dcterms:W3CDTF">2025-04-30T05:25:32Z</dcterms:created>
  <dcterms:modified xsi:type="dcterms:W3CDTF">2025-04-30T06:27:25Z</dcterms:modified>
</cp:coreProperties>
</file>